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 (ms)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50th %ile</c:v>
                  </c:pt>
                  <c:pt idx="1">
                    <c:v>75th %ile</c:v>
                  </c:pt>
                  <c:pt idx="2">
                    <c:v>90th %ile</c:v>
                  </c:pt>
                  <c:pt idx="3">
                    <c:v>95th %ile</c:v>
                  </c:pt>
                  <c:pt idx="4">
                    <c:v>99th %ile</c:v>
                  </c:pt>
                  <c:pt idx="5">
                    <c:v>Max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</c:v>
                </c:pt>
                <c:pt idx="1">
                  <c:v>84</c:v>
                </c:pt>
                <c:pt idx="2">
                  <c:v>87</c:v>
                </c:pt>
                <c:pt idx="3">
                  <c:v>90</c:v>
                </c:pt>
                <c:pt idx="4">
                  <c:v>94</c:v>
                </c:pt>
                <c:pt idx="5">
                  <c:v>117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62E50"/>
          </a:solidFill>
          <a:ln w="12700">
            <a:solidFill>
              <a:srgbClr val="162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16752" y="0"/>
            <a:ext cx="3657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097280"/>
            <a:ext cx="1463040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749808"/>
            <a:ext cx="3753612" cy="2011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749808"/>
            <a:ext cx="37536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WSU · ET 4999 SENIOR PROJECT · MAY 2026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57200" y="96012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3-Tier Web Architecture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Deployment Pipeline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Pomodoro Game Web Application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383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Presented by: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828800" y="33832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Rayhanul Karim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37673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Advisor: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828800" y="37673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Prof. Moise Sunda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57200" y="41513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Curriculum: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828800" y="41513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EET 4999 Sec 001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0" y="2743200"/>
            <a:ext cx="1280160" cy="32004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2743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818120" y="2743200"/>
            <a:ext cx="1280160" cy="32004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18120" y="27432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400800" y="3218688"/>
            <a:ext cx="1280160" cy="32004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0" y="32186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818120" y="3218688"/>
            <a:ext cx="1280160" cy="32004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8120" y="32186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400800" y="3694176"/>
            <a:ext cx="1280160" cy="320040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0" y="369417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37460" cy="2011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374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/ THE BUSINESS 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Deployment: A Startup's Critical Liability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594360"/>
          </a:xfrm>
          <a:prstGeom prst="rect">
            <a:avLst/>
          </a:prstGeom>
          <a:solidFill>
            <a:srgbClr val="162E50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3258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12801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Scenario: A startup needs to push a critical bug fix to production. A developer manually SSH-es into the server, pulls code, restarts services — and one typo takes the app down.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11480" y="1993392"/>
            <a:ext cx="2651760" cy="2468880"/>
          </a:xfrm>
          <a:prstGeom prst="rect">
            <a:avLst/>
          </a:prstGeom>
          <a:solidFill>
            <a:srgbClr val="162E5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1993392"/>
            <a:ext cx="45720" cy="2468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011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1208" y="26060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Error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21208" y="3063240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SSH, running Docker commands by hand, or mistyping environment variables can break production instantly — with no automatic rollback.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227832" y="1993392"/>
            <a:ext cx="2651760" cy="2468880"/>
          </a:xfrm>
          <a:prstGeom prst="rect">
            <a:avLst/>
          </a:prstGeom>
          <a:solidFill>
            <a:srgbClr val="162E5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27832" y="1993392"/>
            <a:ext cx="45720" cy="2468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20116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7560" y="26060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Risk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37560" y="3063240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Distributing SSH keys to every developer expands the attack surface. Each key is a potential unauthorized entry point to the production server.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044184" y="1993392"/>
            <a:ext cx="2651760" cy="2468880"/>
          </a:xfrm>
          <a:prstGeom prst="rect">
            <a:avLst/>
          </a:prstGeom>
          <a:solidFill>
            <a:srgbClr val="162E5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044184" y="1993392"/>
            <a:ext cx="45720" cy="24688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4" y="20116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53912" y="26060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Unscalable Process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153912" y="3063240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 teams grow, manual deployments become bottlenecks. Every release requires direct human intervention, blocking fast iteration.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Wayne State University  ·  ET 4999 Senior Project  ·  Rayhanul Karim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276856" cy="2011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/ INDUSTRY EVIDENCE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Data Says: Google DORA Research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Source: DORA Accelerate State of DevOps Report (Google Cloud, 10-year study, 39,000+ professionals)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34440"/>
            <a:ext cx="45720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258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182×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82880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frequent deployments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82880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Elite vs. Low performers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23444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234440"/>
            <a:ext cx="45720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32588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8×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035040" y="1417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lower change failure rate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3504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Elite teams fail less, not more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5176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51760"/>
            <a:ext cx="45720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7432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2×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182880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likely to exceed goals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82880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Profitability &amp; productivity targets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651760"/>
            <a:ext cx="39319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651760"/>
            <a:ext cx="45720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27448" y="27432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≤5%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035040" y="2834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 failure rate (Elite)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03504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performers: 46–60% failure rate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133088"/>
            <a:ext cx="8321040" cy="6400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Insight: Elite teams deploy more frequently AND have lower failure rates. Speed and stability are not a tradeoff — automation is the enabler.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Wayne State University  ·  ET 4999 Senior Project  ·  Rayhanul Karim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276856" cy="2011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/ PROPOSED 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3-Tier Web Architecture: Zero-Touch Pipeline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git push triggers the entire pipeline — from code commit to live production — with no manual server access required.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600200"/>
            <a:ext cx="1554480" cy="2331720"/>
          </a:xfrm>
          <a:prstGeom prst="rect">
            <a:avLst/>
          </a:prstGeom>
          <a:solidFill>
            <a:srgbClr val="162E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600200"/>
            <a:ext cx="45720" cy="2331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556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304288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push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779776"/>
            <a:ext cx="1408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 commits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main branch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956816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103120" y="1600200"/>
            <a:ext cx="1554480" cy="2331720"/>
          </a:xfrm>
          <a:prstGeom prst="rect">
            <a:avLst/>
          </a:prstGeom>
          <a:solidFill>
            <a:srgbClr val="162E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03120" y="1600200"/>
            <a:ext cx="45720" cy="2331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175564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76272" y="2304288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176272" y="2779776"/>
            <a:ext cx="1408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triggered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automatically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675888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›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3822192" y="1600200"/>
            <a:ext cx="1554480" cy="2331720"/>
          </a:xfrm>
          <a:prstGeom prst="rect">
            <a:avLst/>
          </a:prstGeom>
          <a:solidFill>
            <a:srgbClr val="162E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822192" y="1600200"/>
            <a:ext cx="45720" cy="2331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175564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95344" y="2304288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Build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895344" y="2779776"/>
            <a:ext cx="1408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built fresh,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cache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5394960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›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5541264" y="1600200"/>
            <a:ext cx="1554480" cy="2331720"/>
          </a:xfrm>
          <a:prstGeom prst="rect">
            <a:avLst/>
          </a:prstGeom>
          <a:solidFill>
            <a:srgbClr val="162E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541264" y="1600200"/>
            <a:ext cx="45720" cy="2331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9904" y="1755648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14416" y="2304288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Self-Hosted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Runner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614416" y="2779776"/>
            <a:ext cx="1408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Deployed to Ubuntu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host server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114032" y="19659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891B2"/>
                </a:solidFill>
              </a:rPr>
              <a:t>›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7260336" y="1600200"/>
            <a:ext cx="1554480" cy="2331720"/>
          </a:xfrm>
          <a:prstGeom prst="rect">
            <a:avLst/>
          </a:prstGeom>
          <a:solidFill>
            <a:srgbClr val="162E5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260336" y="1600200"/>
            <a:ext cx="45720" cy="2331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76" y="1755648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333488" y="2304288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App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333488" y="2779776"/>
            <a:ext cx="14081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Zero-touch, zero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SSH required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11480" y="4114800"/>
            <a:ext cx="3977640" cy="713232"/>
          </a:xfrm>
          <a:prstGeom prst="rect">
            <a:avLst/>
          </a:prstGeom>
          <a:solidFill>
            <a:srgbClr val="162E50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02920" y="41330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 ·  Manual</a:t>
            </a:r>
            <a:endParaRPr lang="en-US" sz="950" dirty="0"/>
          </a:p>
        </p:txBody>
      </p:sp>
      <p:sp>
        <p:nvSpPr>
          <p:cNvPr id="37" name="Text 30"/>
          <p:cNvSpPr/>
          <p:nvPr/>
        </p:nvSpPr>
        <p:spPr>
          <a:xfrm>
            <a:off x="502920" y="43708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SSH in → git pull → docker build → restart → hope nothing breaks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4754880" y="4114800"/>
            <a:ext cx="3977640" cy="713232"/>
          </a:xfrm>
          <a:prstGeom prst="rect">
            <a:avLst/>
          </a:prstGeom>
          <a:solidFill>
            <a:srgbClr val="162E5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846320" y="41330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 ·  Automated</a:t>
            </a:r>
            <a:endParaRPr lang="en-US" sz="950" dirty="0"/>
          </a:p>
        </p:txBody>
      </p:sp>
      <p:sp>
        <p:nvSpPr>
          <p:cNvPr id="40" name="Text 33"/>
          <p:cNvSpPr/>
          <p:nvPr/>
        </p:nvSpPr>
        <p:spPr>
          <a:xfrm>
            <a:off x="4846320" y="4370832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 push origin main → everything else is automated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Wayne State University  ·  ET 4999 Senior Project  ·  Rayhanul Karim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711196" cy="2011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711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/ INFRASTRUCTURE AS CODE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Ansible: Eliminating Configuration Drift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05840"/>
            <a:ext cx="45720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97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Ansible?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150876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agentless Infrastructure as Code tool. The server's desired state is declared in a YAML playbook — no agent software needed on the target machine.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1480" y="2267712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2267712"/>
            <a:ext cx="45720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8775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35915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Idempotency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05840" y="277063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the playbook 10 times produces the same result as running it once. No risk of duplicate configurations or drift between environments.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11480" y="3529584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11480" y="3529584"/>
            <a:ext cx="45720" cy="1143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962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62102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Provisions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05840" y="403250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Installs python3-docker, creates database directories, copies schema files, and launches the MySQL container — all automatically.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709160" y="1005840"/>
            <a:ext cx="4023360" cy="3401568"/>
          </a:xfrm>
          <a:prstGeom prst="rect">
            <a:avLst/>
          </a:prstGeom>
          <a:solidFill>
            <a:srgbClr val="0F2744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006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PLAYBOOK SNIPPET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800600" y="1353312"/>
            <a:ext cx="384048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hosts: </a:t>
            </a:r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dbservers
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
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</a:t>
            </a:r>
            <a:pPr indent="0" marL="0">
              <a:buNone/>
            </a:pPr>
            <a:r>
              <a:rPr lang="en-US" sz="900" dirty="0">
                <a:solidFill>
                  <a:srgbClr val="E2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 python3-docker
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ansible.builtin.apt:
</a:t>
            </a:r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python3-docker
</a:t>
            </a:r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state: 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
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</a:t>
            </a:r>
            <a:pPr indent="0" marL="0">
              <a:buNone/>
            </a:pPr>
            <a:r>
              <a:rPr lang="en-US" sz="900" dirty="0">
                <a:solidFill>
                  <a:srgbClr val="E2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MySQL container
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community.docker.docker_container:
</a:t>
            </a:r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image: 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mysql:latest
</a:t>
            </a:r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state: 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started
</a:t>
            </a:r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restart_policy: 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Wayne State University  ·  ET 4999 Senior Project  ·  Rayhanul Karim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89988" cy="2011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899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/ CONTAINERIZATION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Docker: Solving the 'Works on My Machine' Problem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160520" cy="1280160"/>
          </a:xfrm>
          <a:prstGeom prst="rect">
            <a:avLst/>
          </a:prstGeom>
          <a:solidFill>
            <a:srgbClr val="162E5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45720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261872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1645920"/>
            <a:ext cx="3429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works locally on Windows/macOS but fails on the Linux production server due to different OS environments, runtime versions, and system libraries.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1480" y="2633472"/>
            <a:ext cx="4160520" cy="1298448"/>
          </a:xfrm>
          <a:prstGeom prst="rect">
            <a:avLst/>
          </a:prstGeom>
          <a:solidFill>
            <a:srgbClr val="162E50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2633472"/>
            <a:ext cx="45720" cy="12984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88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6700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Docker Solution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05840" y="3072384"/>
            <a:ext cx="34290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Bundle the app + runtime + dependencies into one portable container image. The Docker engine provides an identical environment on every machine.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709160" y="1234440"/>
            <a:ext cx="4023360" cy="2697480"/>
          </a:xfrm>
          <a:prstGeom prst="rect">
            <a:avLst/>
          </a:prstGeom>
          <a:solidFill>
            <a:srgbClr val="162E5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00600" y="1280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MULTI-STAGE DOCKERFILE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800600" y="1572768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1: Build React Frontend
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node:22 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client-build
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</a:t>
            </a:r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NODE_OPTIONS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=--max-old-space-size=1024
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</a:t>
            </a:r>
            <a:pPr indent="0" marL="0">
              <a:buNone/>
            </a:pPr>
            <a:r>
              <a:rPr lang="en-US" sz="900" dirty="0">
                <a:solidFill>
                  <a:srgbClr val="E2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
</a:t>
            </a:r>
            <a:pPr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2: Production Server
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node:22
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--from=client-build </a:t>
            </a:r>
            <a:pPr indent="0" marL="0">
              <a:buNone/>
            </a:pPr>
            <a:r>
              <a:rPr lang="en-US" sz="900" dirty="0">
                <a:solidFill>
                  <a:srgbClr val="E2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./dist ./public
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</a:t>
            </a:r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
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</a:t>
            </a:r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["node", "index.js"]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11480" y="4005072"/>
            <a:ext cx="8321040" cy="804672"/>
          </a:xfrm>
          <a:prstGeom prst="rect">
            <a:avLst/>
          </a:prstGeom>
          <a:solidFill>
            <a:srgbClr val="162E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1480" y="4005072"/>
            <a:ext cx="45720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4050792"/>
            <a:ext cx="7589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Multi-stage build: Frontend compiled in Stage 1, only production artifacts copied to Stage 2. Result: smaller final image, faster deployments, zero dev dependencies in production.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Wayne State University  ·  ET 4999 Senior Project  ·  Rayhanul Karim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016252" cy="2011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016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/ CI/CD 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Actions: The Automated Deployment Engine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4160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45720" cy="13533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0700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Self-Hosted Runner Works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572768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background process on the Ubuntu server maintains a persistent HTTPS connection to GitHub's Actions API — constantly asking: </a:t>
            </a:r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"Do you have a job for me?"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a developer pushes to main, GitHub queues the job. The runner fetches and executes it locally — no inbound SSH required.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633472"/>
            <a:ext cx="4160520" cy="21762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883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DEPLOY.YML — PIPELINE STEPS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962656"/>
            <a:ext cx="388620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Checkout latest source code from repository
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 Inject secrets (DB credentials, JWT) from GitHub Secrets vault
</a:t>
            </a:r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 Build fresh Docker image — --no-cache ensures latest code
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 Stop &amp; remove the old running container
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 Deploy new container (port 8080:5000)
</a:t>
            </a:r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 Prune unused Docker images to free disk space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4023360" cy="3630168"/>
          </a:xfrm>
          <a:prstGeom prst="rect">
            <a:avLst/>
          </a:prstGeom>
          <a:solidFill>
            <a:srgbClr val="0F2744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161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DEPLOY.YML SNIPPET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38404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
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pPr indent="0" marL="0">
              <a:buNone/>
            </a:pPr>
            <a:r>
              <a:rPr lang="en-US" sz="8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
  deploy:
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</a:t>
            </a:r>
            <a:pPr indent="0" marL="0">
              <a:buNone/>
            </a:pPr>
            <a:r>
              <a:rPr lang="en-US" sz="8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self-hosted
</a:t>
            </a:r>
            <a:pPr indent="0" marL="0">
              <a:buNone/>
            </a:pPr>
            <a:r>
              <a:rPr lang="en-US" sz="8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
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</a:t>
            </a:r>
            <a:pPr indent="0" marL="0">
              <a:buNone/>
            </a:pPr>
            <a:r>
              <a:rPr lang="en-US" sz="880" dirty="0">
                <a:solidFill>
                  <a:srgbClr val="E2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 Source Code
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</a:t>
            </a:r>
            <a:pPr indent="0" marL="0">
              <a:buNone/>
            </a:pPr>
            <a:r>
              <a:rPr lang="en-US" sz="880" dirty="0">
                <a:solidFill>
                  <a:srgbClr val="E2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 Env Variables
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run: echo DB_HOST=${{</a:t>
            </a:r>
            <a:pPr indent="0" marL="0">
              <a:buNone/>
            </a:pPr>
            <a:r>
              <a:rPr lang="en-US" sz="8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secrets.DB_HOST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
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run: docker build </a:t>
            </a:r>
            <a:pPr indent="0" marL="0">
              <a:buNone/>
            </a:pPr>
            <a:r>
              <a:rPr lang="en-US" sz="88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--no-cache</a:t>
            </a:r>
            <a:pPr indent="0" marL="0">
              <a:buNone/>
            </a:pPr>
            <a:r>
              <a:rPr lang="en-US" sz="880" dirty="0">
                <a:solidFill>
                  <a:srgbClr val="E2E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-t pomodoro-prod
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run: docker stop pomodoro-app </a:t>
            </a:r>
            <a:pPr indent="0" marL="0">
              <a:buNone/>
            </a:pPr>
            <a:r>
              <a:rPr lang="en-US" sz="88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 true
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run: docker run --name pomodoro-app
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--env-file ./server/.env
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-p </a:t>
            </a:r>
            <a:pPr indent="0" marL="0">
              <a:buNone/>
            </a:pPr>
            <a:r>
              <a:rPr lang="en-US" sz="88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8080:5000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-d pomodoro-prod
</a:t>
            </a:r>
            <a:pPr indent="0" marL="0">
              <a:buNone/>
            </a:pPr>
            <a:r>
              <a:rPr lang="en-US" sz="88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run: docker image prune -f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Wayne State University  ·  ET 4999 Senior Project  ·  Rayhanul Karim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9384" cy="2011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 / OBSERVABILITY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+ Grafana: Eliminating the Black Box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monitoring, production systems are opaque — administrators cannot detect memory leaks or CPU spikes before users experience failures. The observability stack makes the system transparent.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627632"/>
            <a:ext cx="2651760" cy="1737360"/>
          </a:xfrm>
          <a:prstGeom prst="rect">
            <a:avLst/>
          </a:prstGeom>
          <a:solidFill>
            <a:srgbClr val="162E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627632"/>
            <a:ext cx="45720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76479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3042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prom-client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72491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Embedded in Node.js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Exposes /metrics endpoint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081528" y="20574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246120" y="1627632"/>
            <a:ext cx="2651760" cy="1737360"/>
          </a:xfrm>
          <a:prstGeom prst="rect">
            <a:avLst/>
          </a:prstGeom>
          <a:solidFill>
            <a:srgbClr val="162E50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627632"/>
            <a:ext cx="45720" cy="17373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6479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3042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272491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Scrapes /metrics every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seconds via Docker bridge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916168" y="205740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›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080760" y="1627632"/>
            <a:ext cx="2651760" cy="1737360"/>
          </a:xfrm>
          <a:prstGeom prst="rect">
            <a:avLst/>
          </a:prstGeom>
          <a:solidFill>
            <a:srgbClr val="162E50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1627632"/>
            <a:ext cx="45720" cy="1737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6479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23042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 Dashboard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2200" y="2724912"/>
            <a:ext cx="2468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Visualizes CPU, V8 heap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event loop in real-time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11480" y="3401568"/>
            <a:ext cx="8321040" cy="1417320"/>
          </a:xfrm>
          <a:prstGeom prst="rect">
            <a:avLst/>
          </a:prstGeom>
          <a:solidFill>
            <a:srgbClr val="162E5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11480" y="3401568"/>
            <a:ext cx="45720" cy="1417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58444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5840" y="3456432"/>
            <a:ext cx="7543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Technical Challenge: UFW Hairpin NAT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05840" y="3840480"/>
            <a:ext cx="75438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timed out when scraping Node.js using the server's external IP — UFW silently dropped packets in a Hairpin NAT loop.
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Solution: </a:t>
            </a:r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Refactored Prometheus to use the internal Docker gateway (172.17.0.1). Containers communicate within the Docker bridge network, completely bypassing the firewall.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Wayne State University  ·  ET 4999 Senior Project  ·  Rayhanul Karim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537460" cy="2011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5374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/ RESULTS &amp; VALIDATION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Apache Bench Load Test: Production-Grade Validation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3931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88720"/>
            <a:ext cx="45720" cy="1261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43584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84248" y="128016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HTTP Requests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984248" y="18470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 concurrent users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3931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88720"/>
            <a:ext cx="45720" cy="1261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1243584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2,422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190488" y="1280160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Requests / Second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90488" y="18470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Mean throughput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578608"/>
            <a:ext cx="3931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578608"/>
            <a:ext cx="45720" cy="12618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633472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984248" y="2670048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Failed Requests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84248" y="32369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success rate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17720" y="2578608"/>
            <a:ext cx="3931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578608"/>
            <a:ext cx="45720" cy="12618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90872" y="2633472"/>
            <a:ext cx="14630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20.6s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190488" y="2670048"/>
            <a:ext cx="22311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Test Duration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90488" y="32369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7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Entire 50k req payload</a:t>
            </a:r>
            <a:endParaRPr lang="en-US" sz="10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4023360"/>
          <a:ext cx="5029200" cy="804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411480" y="40050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 Distribution (ms)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623560" y="4023360"/>
            <a:ext cx="3108960" cy="804672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15000" y="40416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99% of all requests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 in under 94ms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715000" y="45262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 confirmed CPU + heap spikes during test — monitoring stack validated under load.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Wayne State University  ·  ET 4999 Senior Project  ·  Rayhanul Karim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03120" cy="2011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 / LESSONS LEARNED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Challenges &amp; What They Taught 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8321040" cy="1207008"/>
          </a:xfrm>
          <a:prstGeom prst="rect">
            <a:avLst/>
          </a:prstGeom>
          <a:solidFill>
            <a:srgbClr val="162E5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87552"/>
            <a:ext cx="45720" cy="1207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87552"/>
            <a:ext cx="475488" cy="1207008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104241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V8 Heap Crash During CI Build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1444752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React/Vite frontend build exceeded default Node.js memory limits, crashing the Docker build in GitHub Actions.  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Lesson: </a:t>
            </a:r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runners operate under hardware constraints. Fixed by upgrading to a medium runner and setting ENV NODE_OPTIONS=--max-old-space-size=1024 in the Dockerfile.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313432"/>
            <a:ext cx="8321040" cy="1207008"/>
          </a:xfrm>
          <a:prstGeom prst="rect">
            <a:avLst/>
          </a:prstGeom>
          <a:solidFill>
            <a:srgbClr val="162E5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313432"/>
            <a:ext cx="45720" cy="1207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313432"/>
            <a:ext cx="475488" cy="1207008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13432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36829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Vite Host Binding &amp; CORS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2770632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 devices couldn't reach the backend API because Vite binds to localhost by default, and CORS blocked cross-origin requests.  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Lesson: </a:t>
            </a:r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Added --host flag to expose all interfaces. Implemented a reverse proxy in vite.config.js with changeOrigin: true to make API requests appear same-origin.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639312"/>
            <a:ext cx="8321040" cy="1207008"/>
          </a:xfrm>
          <a:prstGeom prst="rect">
            <a:avLst/>
          </a:prstGeom>
          <a:solidFill>
            <a:srgbClr val="162E50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639312"/>
            <a:ext cx="45720" cy="1207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639312"/>
            <a:ext cx="475488" cy="1207008"/>
          </a:xfrm>
          <a:prstGeom prst="rect">
            <a:avLst/>
          </a:prstGeom>
          <a:solidFill>
            <a:srgbClr val="F97316">
              <a:alpha val="30000"/>
            </a:srgbClr>
          </a:solidFill>
          <a:ln w="1270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639312"/>
            <a:ext cx="47548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0120" y="3694176"/>
            <a:ext cx="7269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UFW Hairpin NAT Blocking Prometheus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4096512"/>
            <a:ext cx="7223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Problem: </a:t>
            </a:r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returned 'context deadline exceeded' when scraping Node.js metrics. UFW was silently dropping packets from Hairpin NAT loops.  </a:t>
            </a:r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Lesson: </a:t>
            </a:r>
            <a:pPr indent="0" marL="0">
              <a:buNone/>
            </a:pPr>
            <a:r>
              <a:rPr lang="en-US" sz="9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weaken the firewall to fix internal routing. Pointed Prometheus at Docker's internal gateway (172.17.0.1) instead — fully bypasses UFW.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Wayne State University  ·  ET 4999 Senior Project  ·  Rayhanul Karim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884932" cy="201168"/>
          </a:xfrm>
          <a:prstGeom prst="rect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8849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/ CONCLUSION &amp; FUTURE WORK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Objectives Met — And What Comes Next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074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PROJECT OBJECTIVES ACHIEVED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44168"/>
            <a:ext cx="4800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Zero-touch deployment: git push → live production with no SSH intervention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 consistency: Docker eliminates the 'works on my machine' problem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hardened: SSH keys no longer distributed; Cloudflare Tunnel exposes app publicly without open firewall ports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Empirically validated: 50,000 requests, 200 concurrent users, 0 failures, 2,422 req/sec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observability: Prometheus + Grafana confirmed telemetry accuracy under stress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9601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960120"/>
            <a:ext cx="4572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20700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72200" y="101498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(K8s)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72200" y="1435608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Migrate from Docker Compose to K8s for horizontal scaling, self-healing pods, and zero-downtime rolling updates.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0" y="2039112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69280" y="2039112"/>
            <a:ext cx="4572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22860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72200" y="209397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ELK / Loki Logging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6172200" y="2514600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centralized log aggregation to complement Prometheus metrics — critical for reducing MTTR in debugging.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669280" y="3118104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69280" y="3118104"/>
            <a:ext cx="4572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3364992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3172968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DB Replication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172200" y="3593592"/>
            <a:ext cx="2423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Evolve single MySQL container to primary-replica architecture with automated volume snapshots for resilience.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11480" y="4224528"/>
            <a:ext cx="8321040" cy="5943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4251960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Relevance: IaC, container orchestration, and real-time telemetry are foundational to modern SRE and Systems Administration — directly transferable to production cloud environments.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5720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Wayne State University  ·  ET 4999 Senior Project  ·  Rayhanul Karim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62E50"/>
          </a:solidFill>
          <a:ln w="12700">
            <a:solidFill>
              <a:srgbClr val="162E5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16752" y="0"/>
            <a:ext cx="36576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716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1719072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2377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Summary: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724912"/>
            <a:ext cx="5394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 3-Tier automated deployment pipeline for the Pomodoro Game web app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Stack: Ansible · Docker · GitHub Actions · Prometheus · Grafana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Validated with Apache Bench: 50,000 requests, 200 users, 0 failures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2E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Directly applicable to enterprise SRE and cloud infrastructure roles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4864608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C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Rayhanul Karim  ·  Wayne State University  ·  May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3-Tier Web Architecture — Pomodoro Game</dc:title>
  <dc:subject>PptxGenJS Presentation</dc:subject>
  <dc:creator>Rayhanul Karim</dc:creator>
  <cp:lastModifiedBy>Rayhanul Karim</cp:lastModifiedBy>
  <cp:revision>1</cp:revision>
  <dcterms:created xsi:type="dcterms:W3CDTF">2026-04-24T12:28:06Z</dcterms:created>
  <dcterms:modified xsi:type="dcterms:W3CDTF">2026-04-24T12:28:06Z</dcterms:modified>
</cp:coreProperties>
</file>